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1" dt="2026-09-25T00:08:03.355"/>
    <p1510:client id="{63B49141-7B4B-0552-5881-E5374556303C}" v="8" dt="2026-09-24T23:50:24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5" d="100"/>
          <a:sy n="25" d="100"/>
        </p:scale>
        <p:origin x="232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 LUCY PALACIOS SALCEDO" userId="79dcf533be6325ef" providerId="Windows Live" clId="Web-{00000000-0000-0000-0000-000000000000}"/>
    <pc:docChg chg="modSld">
      <pc:chgData name="SUSAN LUCY PALACIOS SALCEDO" userId="79dcf533be6325ef" providerId="Windows Live" clId="Web-{00000000-0000-0000-0000-000000000000}" dt="2026-09-25T00:08:03.355" v="80"/>
      <pc:docMkLst>
        <pc:docMk/>
      </pc:docMkLst>
      <pc:sldChg chg="addSp delSp modSp">
        <pc:chgData name="SUSAN LUCY PALACIOS SALCEDO" userId="79dcf533be6325ef" providerId="Windows Live" clId="Web-{00000000-0000-0000-0000-000000000000}" dt="2026-09-25T00:08:03.355" v="80"/>
        <pc:sldMkLst>
          <pc:docMk/>
          <pc:sldMk cId="0" sldId="256"/>
        </pc:sldMkLst>
        <pc:spChg chg="del mod">
          <ac:chgData name="SUSAN LUCY PALACIOS SALCEDO" userId="79dcf533be6325ef" providerId="Windows Live" clId="Web-{00000000-0000-0000-0000-000000000000}" dt="2026-09-25T00:07:30.588" v="77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SUSAN LUCY PALACIOS SALCEDO" userId="79dcf533be6325ef" providerId="Windows Live" clId="Web-{00000000-0000-0000-0000-000000000000}" dt="2026-09-25T00:07:31.432" v="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SUSAN LUCY PALACIOS SALCEDO" userId="79dcf533be6325ef" providerId="Windows Live" clId="Web-{00000000-0000-0000-0000-000000000000}" dt="2026-09-25T00:07:04.556" v="7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USAN LUCY PALACIOS SALCEDO" userId="79dcf533be6325ef" providerId="Windows Live" clId="Web-{00000000-0000-0000-0000-000000000000}" dt="2026-09-25T00:08:03.355" v="80"/>
          <ac:spMkLst>
            <pc:docMk/>
            <pc:sldMk cId="0" sldId="256"/>
            <ac:spMk id="38" creationId="{00000000-0000-0000-0000-000000000000}"/>
          </ac:spMkLst>
        </pc:spChg>
        <pc:picChg chg="add mod">
          <ac:chgData name="SUSAN LUCY PALACIOS SALCEDO" userId="79dcf533be6325ef" providerId="Windows Live" clId="Web-{00000000-0000-0000-0000-000000000000}" dt="2026-09-25T00:06:27.304" v="62" actId="1076"/>
          <ac:picMkLst>
            <pc:docMk/>
            <pc:sldMk cId="0" sldId="256"/>
            <ac:picMk id="43" creationId="{D895E0D9-A79F-6284-DEEF-6E1E32AB9631}"/>
          </ac:picMkLst>
        </pc:picChg>
        <pc:picChg chg="add del mod">
          <ac:chgData name="SUSAN LUCY PALACIOS SALCEDO" userId="79dcf533be6325ef" providerId="Windows Live" clId="Web-{00000000-0000-0000-0000-000000000000}" dt="2026-09-25T00:05:19.691" v="47"/>
          <ac:picMkLst>
            <pc:docMk/>
            <pc:sldMk cId="0" sldId="256"/>
            <ac:picMk id="44" creationId="{81887B3B-D915-E385-B47E-D81B4E5D4F30}"/>
          </ac:picMkLst>
        </pc:picChg>
        <pc:picChg chg="add mod">
          <ac:chgData name="SUSAN LUCY PALACIOS SALCEDO" userId="79dcf533be6325ef" providerId="Windows Live" clId="Web-{00000000-0000-0000-0000-000000000000}" dt="2026-09-25T00:07:24.463" v="74" actId="1076"/>
          <ac:picMkLst>
            <pc:docMk/>
            <pc:sldMk cId="0" sldId="256"/>
            <ac:picMk id="45" creationId="{6186F5A4-F976-DA4E-86F6-C07234D32654}"/>
          </ac:picMkLst>
        </pc:picChg>
        <pc:picChg chg="del mod">
          <ac:chgData name="SUSAN LUCY PALACIOS SALCEDO" userId="79dcf533be6325ef" providerId="Windows Live" clId="Web-{00000000-0000-0000-0000-000000000000}" dt="2026-09-25T00:07:29.822" v="76"/>
          <ac:picMkLst>
            <pc:docMk/>
            <pc:sldMk cId="0" sldId="256"/>
            <ac:picMk id="49" creationId="{EA073FA5-B7A6-9574-C290-7E7249E38186}"/>
          </ac:picMkLst>
        </pc:picChg>
        <pc:picChg chg="del mod">
          <ac:chgData name="SUSAN LUCY PALACIOS SALCEDO" userId="79dcf533be6325ef" providerId="Windows Live" clId="Web-{00000000-0000-0000-0000-000000000000}" dt="2026-09-25T00:07:32.150" v="79"/>
          <ac:picMkLst>
            <pc:docMk/>
            <pc:sldMk cId="0" sldId="256"/>
            <ac:picMk id="50" creationId="{6B1BD098-CF01-0FAA-97F0-810A3D270A52}"/>
          </ac:picMkLst>
        </pc:picChg>
      </pc:sldChg>
    </pc:docChg>
  </pc:docChgLst>
  <pc:docChgLst>
    <pc:chgData name="SUSAN LUCY PALACIOS SALCEDO" userId="79dcf533be6325ef" providerId="Windows Live" clId="Web-{63B49141-7B4B-0552-5881-E5374556303C}"/>
    <pc:docChg chg="modSld">
      <pc:chgData name="SUSAN LUCY PALACIOS SALCEDO" userId="79dcf533be6325ef" providerId="Windows Live" clId="Web-{63B49141-7B4B-0552-5881-E5374556303C}" dt="2026-09-24T23:50:24.646" v="7"/>
      <pc:docMkLst>
        <pc:docMk/>
      </pc:docMkLst>
      <pc:sldChg chg="addSp delSp modSp">
        <pc:chgData name="SUSAN LUCY PALACIOS SALCEDO" userId="79dcf533be6325ef" providerId="Windows Live" clId="Web-{63B49141-7B4B-0552-5881-E5374556303C}" dt="2026-09-24T23:50:24.646" v="7"/>
        <pc:sldMkLst>
          <pc:docMk/>
          <pc:sldMk cId="0" sldId="256"/>
        </pc:sldMkLst>
        <pc:picChg chg="add del mod">
          <ac:chgData name="SUSAN LUCY PALACIOS SALCEDO" userId="79dcf533be6325ef" providerId="Windows Live" clId="Web-{63B49141-7B4B-0552-5881-E5374556303C}" dt="2026-09-24T23:50:24.646" v="7"/>
          <ac:picMkLst>
            <pc:docMk/>
            <pc:sldMk cId="0" sldId="256"/>
            <ac:picMk id="43" creationId="{D54F7D67-E2EC-CD94-58C7-85BD81DCE0F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ángulo: esquinas superiores redondeadas 45">
            <a:extLst>
              <a:ext uri="{FF2B5EF4-FFF2-40B4-BE49-F238E27FC236}">
                <a16:creationId xmlns:a16="http://schemas.microsoft.com/office/drawing/2014/main" id="{2FED7C4B-6BBE-B0FE-9A56-15EEA5F527BC}"/>
              </a:ext>
            </a:extLst>
          </p:cNvPr>
          <p:cNvSpPr/>
          <p:nvPr/>
        </p:nvSpPr>
        <p:spPr>
          <a:xfrm rot="10800000">
            <a:off x="15430500" y="13109151"/>
            <a:ext cx="13738860" cy="11895974"/>
          </a:xfrm>
          <a:prstGeom prst="round2Same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/>
          </a:p>
        </p:txBody>
      </p:sp>
      <p:sp>
        <p:nvSpPr>
          <p:cNvPr id="3" name="Rectángulo: esquinas superiores redondeadas 2">
            <a:extLst>
              <a:ext uri="{FF2B5EF4-FFF2-40B4-BE49-F238E27FC236}">
                <a16:creationId xmlns:a16="http://schemas.microsoft.com/office/drawing/2014/main" id="{564D2B72-6C13-E8B6-14DF-CF9B8CDF2ECC}"/>
              </a:ext>
            </a:extLst>
          </p:cNvPr>
          <p:cNvSpPr/>
          <p:nvPr/>
        </p:nvSpPr>
        <p:spPr>
          <a:xfrm rot="10800000">
            <a:off x="1097280" y="13109148"/>
            <a:ext cx="13738860" cy="11895974"/>
          </a:xfrm>
          <a:prstGeom prst="round2Same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0275784" cy="4500000"/>
          </a:xfrm>
          <a:prstGeom prst="rect">
            <a:avLst/>
          </a:prstGeom>
          <a:solidFill>
            <a:srgbClr val="4B2A82"/>
          </a:solidFill>
          <a:ln>
            <a:solidFill>
              <a:srgbClr val="4B2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54207" y="689700"/>
            <a:ext cx="19966798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  <a:latin typeface="Arial"/>
              </a:rPr>
              <a:t>Workshop on Artificial Intelligence</a:t>
            </a:r>
            <a:r>
              <a:rPr lang="es-PE" sz="4400" b="1" dirty="0">
                <a:solidFill>
                  <a:srgbClr val="FFFFFF"/>
                </a:solidFill>
                <a:latin typeface="Arial"/>
              </a:rPr>
              <a:t> a</a:t>
            </a:r>
            <a:r>
              <a:rPr sz="4400" b="1" dirty="0" err="1">
                <a:solidFill>
                  <a:srgbClr val="FFFFFF"/>
                </a:solidFill>
                <a:latin typeface="Arial"/>
              </a:rPr>
              <a:t>nd</a:t>
            </a:r>
            <a:r>
              <a:rPr sz="4400" b="1" dirty="0">
                <a:solidFill>
                  <a:srgbClr val="FFFFFF"/>
                </a:solidFill>
                <a:latin typeface="Arial"/>
              </a:rPr>
              <a:t> Machine Learning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9637" y="2063721"/>
            <a:ext cx="27887364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Arial"/>
              </a:rPr>
              <a:t>The Informational Cost of Spatial Prompts in SAM: A Controlled Study on Polyp Segmentation</a:t>
            </a:r>
            <a:endParaRPr sz="4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71406" y="3261360"/>
            <a:ext cx="1492382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rial"/>
              </a:rPr>
              <a:t>Christian Rosales Ventocilla¹, Kevin </a:t>
            </a:r>
            <a:r>
              <a:rPr lang="en-US" sz="3200" b="1" dirty="0" err="1">
                <a:solidFill>
                  <a:srgbClr val="FFFFFF"/>
                </a:solidFill>
                <a:latin typeface="Arial"/>
              </a:rPr>
              <a:t>Alcca</a:t>
            </a:r>
            <a:r>
              <a:rPr lang="en-US" sz="3200" b="1" dirty="0">
                <a:solidFill>
                  <a:srgbClr val="FFFFFF"/>
                </a:solidFill>
                <a:latin typeface="Arial"/>
              </a:rPr>
              <a:t> Chávez</a:t>
            </a:r>
            <a:r>
              <a:rPr lang="en-US" sz="3200" b="1" baseline="30000" dirty="0">
                <a:solidFill>
                  <a:srgbClr val="FFFFFF"/>
                </a:solidFill>
                <a:latin typeface="Arial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/>
              </a:rPr>
              <a:t>, Alessandro Santé Vega¹</a:t>
            </a:r>
          </a:p>
          <a:p>
            <a:pPr algn="ctr"/>
            <a:r>
              <a:rPr lang="en-US" sz="2800" dirty="0">
                <a:solidFill>
                  <a:srgbClr val="FFFFFF"/>
                </a:solidFill>
                <a:latin typeface="Arial"/>
              </a:rPr>
              <a:t>¹PUCP, Peru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739640"/>
            <a:ext cx="28072080" cy="1325880"/>
          </a:xfrm>
          <a:prstGeom prst="roundRect">
            <a:avLst/>
          </a:prstGeom>
          <a:solidFill>
            <a:srgbClr val="F5F3F9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sz="2400" dirty="0">
                <a:solidFill>
                  <a:srgbClr val="64646E"/>
                </a:solidFill>
                <a:latin typeface="Arial"/>
              </a:rPr>
              <a:t>[AUTHOR / PROJECT / INSTITUTION LOGOS — place official logos here]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6568440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1097280" y="6568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417319" y="6641592"/>
            <a:ext cx="67533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Arial"/>
              </a:rPr>
              <a:t>MOTIVATION &amp; RESEARCH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7437119"/>
            <a:ext cx="129159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Segment Anything (SAM) [1] is often called a general </a:t>
            </a:r>
            <a:r>
              <a:rPr lang="en-US" sz="2400" dirty="0" err="1">
                <a:solidFill>
                  <a:srgbClr val="28282D"/>
                </a:solidFill>
                <a:latin typeface="Arial"/>
              </a:rPr>
              <a:t>segmenter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, but its mask decoder expects a spatial prompt: a click or a box that tells it where and which object to segment.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In colonoscopy, someone has to provide that prompt for every frame. Removing it is the step that would make SAM fully automatic.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Earlier work generates prompts automatically [4, 5] and reports that SAM's chosen mask can trail its best candidate [3]. It rarely asks why SAM fails without a prompt, or whether SAM is still worth its cost once prompting is automated.</a:t>
            </a:r>
          </a:p>
          <a:p>
            <a:endParaRPr lang="en-US" sz="2400" dirty="0">
              <a:solidFill>
                <a:srgbClr val="28282D"/>
              </a:solidFill>
              <a:latin typeface="Arial"/>
            </a:endParaRPr>
          </a:p>
          <a:p>
            <a:r>
              <a:rPr lang="en-US" sz="2400" b="1" dirty="0">
                <a:solidFill>
                  <a:srgbClr val="28282D"/>
                </a:solidFill>
                <a:latin typeface="Arial"/>
              </a:rPr>
              <a:t>Research question: 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How much of SAM's polyp-segmentation quality comes from the spatial prompt? Where does it fail without one, and how much can an automatic replacement recover, at what cost?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30500" y="6568440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15430500" y="6568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5750540" y="6641592"/>
            <a:ext cx="55098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OBJECTIVES /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81960" y="7437119"/>
            <a:ext cx="132359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8282D"/>
                </a:solidFill>
                <a:latin typeface="Arial"/>
              </a:rPr>
              <a:t>Measure prompt dependence 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on the same images, from no prompt to oracle point and box.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8282D"/>
                </a:solidFill>
                <a:latin typeface="Arial"/>
              </a:rPr>
              <a:t>Separate two failure modes: 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no good mask candidate, versus a good candidate that SAM does not select.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8282D"/>
                </a:solidFill>
                <a:latin typeface="Arial"/>
              </a:rPr>
              <a:t>Test automatic prompts against honest controls: 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a fixed location prior and a U-Net trained from scratch.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8282D"/>
                </a:solidFill>
                <a:latin typeface="Arial"/>
              </a:rPr>
              <a:t>Look beyond one score: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 label budget, external transfer, false activation on polyp-free images, and CPU latency.</a:t>
            </a:r>
          </a:p>
          <a:p>
            <a:endParaRPr lang="en-US" sz="2400" b="1" i="1" dirty="0">
              <a:solidFill>
                <a:srgbClr val="28282D"/>
              </a:solidFill>
              <a:latin typeface="Arial"/>
            </a:endParaRPr>
          </a:p>
          <a:p>
            <a:endParaRPr lang="en-US" sz="2400" b="1" i="1" dirty="0">
              <a:solidFill>
                <a:srgbClr val="28282D"/>
              </a:solidFill>
              <a:latin typeface="Arial"/>
            </a:endParaRPr>
          </a:p>
          <a:p>
            <a:pPr algn="ctr"/>
            <a:r>
              <a:rPr lang="en-US" sz="2400" b="1" i="1" dirty="0">
                <a:solidFill>
                  <a:srgbClr val="28282D"/>
                </a:solidFill>
                <a:latin typeface="Arial"/>
              </a:rPr>
              <a:t>Worth discussing: should automatic SAM pipelines be judged only by Dice, or also by whether they can say "no polyp here"?</a:t>
            </a:r>
            <a:endParaRPr sz="2400" b="1" i="1" dirty="0">
              <a:solidFill>
                <a:srgbClr val="28282D"/>
              </a:solidFill>
              <a:latin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97280" y="13109151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417319" y="13182303"/>
            <a:ext cx="30364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13977831"/>
            <a:ext cx="12915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8282D"/>
                </a:solidFill>
                <a:latin typeface="Arial"/>
              </a:rPr>
              <a:t>Describe the data, experimental design, models, analytical procedure, or system architecture.
[PLACE A LARGE WORKFLOW / DIAGRAM / METHOD FIGURE HERE]
Prefer visual explanation over long paragraphs.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430500" y="13109151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15750540" y="13182303"/>
            <a:ext cx="45245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RESULTS &amp; 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41980" y="13977831"/>
            <a:ext cx="129159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8282D"/>
                </a:solidFill>
                <a:latin typeface="Arial"/>
              </a:rPr>
              <a:t>Show the strongest evidence available.
[PLACE CHARTS / TABLES / QUALITATIVE RESULTS HERE]
Explain what the results mean. For work in progress, distinguish preliminary findings from planned experiments.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26026037"/>
            <a:ext cx="13738860" cy="6272011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ectangle 25"/>
          <p:cNvSpPr/>
          <p:nvPr/>
        </p:nvSpPr>
        <p:spPr>
          <a:xfrm>
            <a:off x="1097280" y="26026038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417319" y="26099189"/>
            <a:ext cx="245932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CONCLUSIONS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26894718"/>
            <a:ext cx="129159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Without a prompt, SAM lacks good candidates. With a point, it has them but picks poorly.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Automatic localization (probe → box + point) recovers 87% of the prompt gap; a fixed prior does not.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Against a U-Net from scratch, SAM is not better on Kvasir and is about 300× slower on CPU. It does start higher with little training and transfers better to CVC-</a:t>
            </a:r>
            <a:r>
              <a:rPr lang="en-US" sz="2400" dirty="0" err="1">
                <a:solidFill>
                  <a:srgbClr val="28282D"/>
                </a:solidFill>
                <a:latin typeface="Arial"/>
              </a:rPr>
              <a:t>ClinicDB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Limitations: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Choices were made on the development set.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Only one SAM size was tested.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The negatives are a class-level proxy.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Latency was measured on CPU only.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8282D"/>
                </a:solidFill>
                <a:latin typeface="Arial"/>
              </a:rPr>
              <a:t>Next: an abstention gate tested on grouped negative videos.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8282D"/>
              </a:solidFill>
              <a:latin typeface="Arial"/>
            </a:endParaRPr>
          </a:p>
          <a:p>
            <a:pPr algn="ctr"/>
            <a:r>
              <a:rPr lang="en-US" sz="2400" b="1" dirty="0">
                <a:solidFill>
                  <a:srgbClr val="28282D"/>
                </a:solidFill>
                <a:latin typeface="Arial"/>
              </a:rPr>
              <a:t>Take-home: </a:t>
            </a:r>
            <a:r>
              <a:rPr lang="en-US" sz="2400" dirty="0">
                <a:solidFill>
                  <a:srgbClr val="28282D"/>
                </a:solidFill>
                <a:latin typeface="Arial"/>
              </a:rPr>
              <a:t>The prompt tells SAM where to look. Automating that recovers most of the quality, but not the ability to say "there is no polyp here".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430500" y="26026037"/>
            <a:ext cx="13738860" cy="6272011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ectangle 29"/>
          <p:cNvSpPr/>
          <p:nvPr/>
        </p:nvSpPr>
        <p:spPr>
          <a:xfrm>
            <a:off x="15430500" y="26026038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15750540" y="26099189"/>
            <a:ext cx="30019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FFFFFF"/>
                </a:solidFill>
                <a:latin typeface="Arial"/>
              </a:rPr>
              <a:t>KEY REFERENCES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41980" y="26894718"/>
            <a:ext cx="129159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dirty="0">
                <a:solidFill>
                  <a:srgbClr val="28282D"/>
                </a:solidFill>
                <a:latin typeface="Arial"/>
              </a:rPr>
              <a:t>[1] A. Kirillov et al., "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Segment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Anything," ICCV, 2023.</a:t>
            </a:r>
          </a:p>
          <a:p>
            <a:r>
              <a:rPr lang="es-PE" sz="2400" dirty="0">
                <a:solidFill>
                  <a:srgbClr val="28282D"/>
                </a:solidFill>
                <a:latin typeface="Arial"/>
              </a:rPr>
              <a:t>[2] D. Jha et al., "Kvasir-SEG: A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Segmented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Polyp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Dataset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," MMM, 2020.</a:t>
            </a:r>
          </a:p>
          <a:p>
            <a:r>
              <a:rPr lang="es-PE" sz="2400" dirty="0">
                <a:solidFill>
                  <a:srgbClr val="28282D"/>
                </a:solidFill>
                <a:latin typeface="Arial"/>
              </a:rPr>
              <a:t>[3] M. A. Mazurowski et al., "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Segment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Anything Model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for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Medical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Image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Analysis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: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An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Experimental Study," Medical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Image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Analysis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, 2023.</a:t>
            </a:r>
          </a:p>
          <a:p>
            <a:r>
              <a:rPr lang="es-PE" sz="2400" dirty="0">
                <a:solidFill>
                  <a:srgbClr val="28282D"/>
                </a:solidFill>
                <a:latin typeface="Arial"/>
              </a:rPr>
              <a:t>[4] Q. Wu, Y. Zhang, and M. Elbatel, "Self-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Prompting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Large Vision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Models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for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Few-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Shot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Medical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Image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Segmentation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," arXiv:2308.07624, 2023.</a:t>
            </a:r>
          </a:p>
          <a:p>
            <a:r>
              <a:rPr lang="es-PE" sz="2400" dirty="0">
                <a:solidFill>
                  <a:srgbClr val="28282D"/>
                </a:solidFill>
                <a:latin typeface="Arial"/>
              </a:rPr>
              <a:t>[5] T.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Shaharabany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et al., "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AutoSAM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: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Adapting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SAM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to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Medical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Images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by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Overloading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the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Prompt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Encoder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," arXiv:2306.06370, 2023.</a:t>
            </a:r>
          </a:p>
          <a:p>
            <a:r>
              <a:rPr lang="es-PE" sz="2400" dirty="0">
                <a:solidFill>
                  <a:srgbClr val="28282D"/>
                </a:solidFill>
                <a:latin typeface="Arial"/>
              </a:rPr>
              <a:t>[6] J. Bernal et al., "WM-DOVA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Maps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for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Accurate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Polyp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Highlighting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in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Colonoscopy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,"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Comput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. Med.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Imaging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Graph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., 2015.</a:t>
            </a:r>
          </a:p>
          <a:p>
            <a:r>
              <a:rPr lang="es-PE" sz="2400" dirty="0">
                <a:solidFill>
                  <a:srgbClr val="28282D"/>
                </a:solidFill>
                <a:latin typeface="Arial"/>
              </a:rPr>
              <a:t>[7] H.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Borgli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et al., "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HyperKvasir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, a Comprehensive Multi-Class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Image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and Video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Dataset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for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Gastrointestinal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Endoscopy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," </a:t>
            </a:r>
            <a:r>
              <a:rPr lang="es-PE" sz="2400" dirty="0" err="1">
                <a:solidFill>
                  <a:srgbClr val="28282D"/>
                </a:solidFill>
                <a:latin typeface="Arial"/>
              </a:rPr>
              <a:t>Scientific</a:t>
            </a:r>
            <a:r>
              <a:rPr lang="es-PE" sz="2400" dirty="0">
                <a:solidFill>
                  <a:srgbClr val="28282D"/>
                </a:solidFill>
                <a:latin typeface="Arial"/>
              </a:rPr>
              <a:t> Data, 2020.</a:t>
            </a:r>
            <a:endParaRPr sz="2400" dirty="0">
              <a:solidFill>
                <a:srgbClr val="28282D"/>
              </a:solidFill>
              <a:latin typeface="Arial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97280" y="33614279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Rectangle 33"/>
          <p:cNvSpPr/>
          <p:nvPr/>
        </p:nvSpPr>
        <p:spPr>
          <a:xfrm>
            <a:off x="1097280" y="33614279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1417319" y="33687430"/>
            <a:ext cx="60292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Arial"/>
              </a:rPr>
              <a:t>ACKNOWLEDGMENTS / FUNDING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34482959"/>
            <a:ext cx="129159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8282D"/>
                </a:solidFill>
                <a:latin typeface="Arial"/>
              </a:rPr>
              <a:t>Funding agencies, laboratories, collaborators, datasets, computing resources, or institutional support.
Optional section.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430500" y="33614279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Rectangle 37"/>
          <p:cNvSpPr/>
          <p:nvPr/>
        </p:nvSpPr>
        <p:spPr>
          <a:xfrm>
            <a:off x="15430500" y="33614279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15750540" y="33687430"/>
            <a:ext cx="58422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CONTINUE THE CONVERSATION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841980" y="34482959"/>
            <a:ext cx="12915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8282D"/>
                </a:solidFill>
                <a:latin typeface="Arial"/>
              </a:rPr>
              <a:t>Add a QR code linking to your paper, repository, project page, demo, or professional profile.
[ QR CODE ]
Contact: author@institution.edu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40405050"/>
            <a:ext cx="28072080" cy="1800000"/>
          </a:xfrm>
          <a:prstGeom prst="round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s-PE" sz="2500" b="1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BRING YOUR RESEARCH. SHARE YOUR IDEAS. JOIN THE CONVERSATION.</a:t>
            </a:r>
          </a:p>
          <a:p>
            <a:pPr algn="ctr"/>
            <a:r>
              <a:rPr sz="2000" dirty="0" err="1">
                <a:solidFill>
                  <a:srgbClr val="FFFFFF"/>
                </a:solidFill>
                <a:latin typeface="Arial"/>
              </a:rPr>
              <a:t>WAIMLAp</a:t>
            </a:r>
            <a:r>
              <a:rPr sz="2000" dirty="0">
                <a:solidFill>
                  <a:srgbClr val="FFFFFF"/>
                </a:solidFill>
                <a:latin typeface="Arial"/>
              </a:rPr>
              <a:t> 2026  •  November 18–20, 2026  •  Lima, Peru  •  waimlap.org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895E0D9-A79F-6284-DEEF-6E1E32AB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2786" y="329537"/>
            <a:ext cx="3952394" cy="168841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186F5A4-F976-DA4E-86F6-C07234D32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39" y="730916"/>
            <a:ext cx="3386394" cy="10120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814</Words>
  <Application>Microsoft Office PowerPoint</Application>
  <PresentationFormat>Personalizado</PresentationFormat>
  <Paragraphs>50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Alessandro Santé</cp:lastModifiedBy>
  <cp:revision>57</cp:revision>
  <dcterms:created xsi:type="dcterms:W3CDTF">2013-01-27T09:14:16Z</dcterms:created>
  <dcterms:modified xsi:type="dcterms:W3CDTF">2026-10-23T06:15:53Z</dcterms:modified>
  <cp:category/>
</cp:coreProperties>
</file>